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82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738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23232"/>
                </a:solidFill>
              </a:defRPr>
            </a:pPr>
            <a:r>
              <a:rPr dirty="0"/>
              <a:t>Time-Decayed 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rPr dirty="0"/>
              <a:t>A Unified Approach to Recency and Frequency-Based Cache Replacement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27432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35132-9C9C-AD25-708C-881C016FEF87}"/>
              </a:ext>
            </a:extLst>
          </p:cNvPr>
          <p:cNvSpPr txBox="1"/>
          <p:nvPr/>
        </p:nvSpPr>
        <p:spPr>
          <a:xfrm>
            <a:off x="6014936" y="4758933"/>
            <a:ext cx="1958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46464"/>
                </a:solidFill>
              </a:rPr>
              <a:t>P</a:t>
            </a:r>
            <a:r>
              <a:rPr lang="ro-RO" dirty="0">
                <a:solidFill>
                  <a:srgbClr val="646464"/>
                </a:solidFill>
              </a:rPr>
              <a:t>ângăleanu</a:t>
            </a:r>
            <a:r>
              <a:rPr lang="ro-RO" dirty="0"/>
              <a:t> </a:t>
            </a:r>
            <a:r>
              <a:rPr lang="ro-RO" dirty="0">
                <a:solidFill>
                  <a:srgbClr val="646464"/>
                </a:solidFill>
              </a:rPr>
              <a:t>Cătălin</a:t>
            </a:r>
            <a:endParaRPr lang="en-US" dirty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23232"/>
                </a:solidFill>
              </a:defRPr>
            </a:pPr>
            <a:r>
              <a:rPr dirty="0"/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474720"/>
            <a:ext cx="18288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The Cache Replacement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Modern systems rely heavily on caching for performance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Limited cache capacity requires intelligent eviction decisions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</a:t>
            </a:r>
            <a:r>
              <a:rPr b="1" dirty="0"/>
              <a:t>Key question</a:t>
            </a:r>
            <a:r>
              <a:rPr dirty="0"/>
              <a:t>: Which item should be evicted when cache is full?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Eviction policy directly impacts system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Existing Cache Replacement Policies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LRU (Least Recently Used):</a:t>
            </a:r>
            <a:endParaRPr lang="ro-RO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ro-RO" sz="2000" dirty="0"/>
              <a:t>		</a:t>
            </a:r>
            <a:r>
              <a:rPr lang="en-US" sz="2000" dirty="0"/>
              <a:t>▪</a:t>
            </a:r>
            <a:r>
              <a:rPr lang="ro-RO" sz="2000" dirty="0"/>
              <a:t> E</a:t>
            </a:r>
            <a:r>
              <a:rPr dirty="0"/>
              <a:t>victs oldest accessed item</a:t>
            </a:r>
            <a:endParaRPr lang="ro-RO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ro-RO" dirty="0"/>
              <a:t>	</a:t>
            </a:r>
            <a:r>
              <a:rPr lang="en-US" sz="2000" dirty="0"/>
              <a:t> </a:t>
            </a:r>
            <a:r>
              <a:rPr lang="ro-RO" sz="2000" dirty="0"/>
              <a:t>	</a:t>
            </a:r>
            <a:r>
              <a:rPr lang="en-US" sz="2000" dirty="0"/>
              <a:t>▪</a:t>
            </a:r>
            <a:r>
              <a:rPr lang="ro-RO" sz="2000" dirty="0"/>
              <a:t> E</a:t>
            </a:r>
            <a:r>
              <a:rPr dirty="0"/>
              <a:t>xploits temporal locality but ignores frequency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LFU (Least Frequently Used): </a:t>
            </a:r>
            <a:endParaRPr lang="ro-RO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ro-RO" sz="2000" dirty="0"/>
              <a:t>		</a:t>
            </a:r>
            <a:r>
              <a:rPr lang="en-US" sz="2000" dirty="0"/>
              <a:t>▪ </a:t>
            </a:r>
            <a:r>
              <a:rPr dirty="0"/>
              <a:t>Evicts least accessed item</a:t>
            </a:r>
            <a:endParaRPr lang="ro-RO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ro-RO" sz="2000" dirty="0"/>
              <a:t>		</a:t>
            </a:r>
            <a:r>
              <a:rPr lang="en-US" sz="2000" dirty="0"/>
              <a:t>▪</a:t>
            </a:r>
            <a:r>
              <a:rPr lang="ro-RO" sz="2000" dirty="0"/>
              <a:t> </a:t>
            </a:r>
            <a:r>
              <a:rPr lang="ro-RO" dirty="0"/>
              <a:t>K</a:t>
            </a:r>
            <a:r>
              <a:rPr dirty="0"/>
              <a:t>eeps popular items but slow to adapt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ARC (Adaptive Replacement Cache): </a:t>
            </a:r>
            <a:endParaRPr lang="ro-RO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ro-RO" sz="2000" dirty="0"/>
              <a:t>		</a:t>
            </a:r>
            <a:r>
              <a:rPr lang="en-US" sz="2000" dirty="0"/>
              <a:t>▪</a:t>
            </a:r>
            <a:r>
              <a:rPr lang="ro-RO" sz="2000" dirty="0"/>
              <a:t> </a:t>
            </a:r>
            <a:r>
              <a:rPr dirty="0"/>
              <a:t>Balances recency and frequency </a:t>
            </a:r>
            <a:endParaRPr lang="ro-RO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ro-RO" sz="2000" dirty="0"/>
              <a:t>		</a:t>
            </a:r>
            <a:r>
              <a:rPr lang="en-US" sz="2000" dirty="0"/>
              <a:t>▪</a:t>
            </a:r>
            <a:r>
              <a:rPr lang="ro-RO" sz="2000" dirty="0"/>
              <a:t> S</a:t>
            </a:r>
            <a:r>
              <a:rPr dirty="0"/>
              <a:t>elf-tuning but </a:t>
            </a:r>
            <a:r>
              <a:rPr lang="ro-RO" dirty="0"/>
              <a:t>very </a:t>
            </a:r>
            <a:r>
              <a:rPr dirty="0"/>
              <a:t>complex state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23232"/>
                </a:solidFill>
              </a:defRPr>
            </a:pPr>
            <a:r>
              <a:rPr dirty="0"/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474720"/>
            <a:ext cx="18288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The Recency vs Frequency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LRU optimizes for recency, LFU optimizes for frequency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No single policy wins across all workload types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Workload characteristics vary and change over time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Need </a:t>
            </a:r>
            <a:r>
              <a:rPr lang="ro-RO" dirty="0"/>
              <a:t>a </a:t>
            </a:r>
            <a:r>
              <a:rPr dirty="0"/>
              <a:t>unified approach that captures both dimensions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Challenges with Existing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Real workloads exhibit both temporal and frequency patterns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Popularity of items changes over time (non-stationary)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Simple policies optimize for one dimension only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Adaptive policies (like ARC) add significant complexity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Our 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rPr dirty="0"/>
              <a:t>A simple, unified approach to recency and frequency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7724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Recent accesses should count more than old ones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Frequent accesses still indicate importance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Combine both dimensions using </a:t>
            </a:r>
            <a:r>
              <a:rPr b="1" dirty="0"/>
              <a:t>time decay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Exponential decay naturally models value depreciation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23232"/>
                </a:solidFill>
              </a:defRPr>
            </a:pPr>
            <a:r>
              <a:rPr dirty="0"/>
              <a:t>Proposed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474720"/>
            <a:ext cx="18288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Time-Decayed Caching (TDC)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8288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4682B4"/>
                </a:solidFill>
              </a:defRPr>
            </a:pPr>
            <a:r>
              <a:rPr dirty="0"/>
              <a:t>Score(item) = Σ  γ^(t_current - t_access)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4682B4"/>
                </a:solidFill>
              </a:defRPr>
            </a:pPr>
            <a:endParaRPr dirty="0"/>
          </a:p>
          <a:p>
            <a:pPr algn="ctr">
              <a:spcAft>
                <a:spcPts val="1000"/>
              </a:spcAft>
              <a:defRPr sz="2200" b="1">
                <a:solidFill>
                  <a:srgbClr val="4682B4"/>
                </a:solidFill>
              </a:defRPr>
            </a:pPr>
            <a:r>
              <a:rPr dirty="0"/>
              <a:t>where γ ∈ (0, 1) is the decay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dirty="0"/>
              <a:t>Each access contributes to the item's score, with older accesses weighted less. The item with the lowest score is evicted.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Intuitive Parameter Tuning: Half-Life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8288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4682B4"/>
                </a:solidFill>
              </a:defRPr>
            </a:pPr>
            <a:r>
              <a:rPr dirty="0"/>
              <a:t>γ = 0.5</a:t>
            </a:r>
            <a:r>
              <a:rPr lang="en-US" dirty="0"/>
              <a:t> </a:t>
            </a:r>
            <a:r>
              <a:rPr dirty="0"/>
              <a:t>^</a:t>
            </a:r>
            <a:r>
              <a:rPr lang="en-US" dirty="0"/>
              <a:t> </a:t>
            </a:r>
            <a:r>
              <a:rPr dirty="0"/>
              <a:t>(1/</a:t>
            </a:r>
            <a:r>
              <a:rPr lang="en-US" dirty="0"/>
              <a:t>H</a:t>
            </a:r>
            <a:r>
              <a:rPr dirty="0"/>
              <a:t>)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4682B4"/>
                </a:solidFill>
              </a:defRPr>
            </a:pPr>
            <a:endParaRPr dirty="0"/>
          </a:p>
          <a:p>
            <a:pPr algn="ctr">
              <a:spcAft>
                <a:spcPts val="1000"/>
              </a:spcAft>
              <a:defRPr sz="2200" b="1">
                <a:solidFill>
                  <a:srgbClr val="4682B4"/>
                </a:solidFill>
              </a:defRPr>
            </a:pPr>
            <a:r>
              <a:rPr dirty="0"/>
              <a:t>where </a:t>
            </a:r>
            <a:r>
              <a:rPr lang="en-US" dirty="0"/>
              <a:t>H</a:t>
            </a:r>
            <a:r>
              <a:rPr dirty="0"/>
              <a:t> is the half-life (in number of accesses)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Set how many accesses until a hit becomes half as important. Example: T = 100 means after 100 accesses, an old hit contributes only 50% of its original weight.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Algorithm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On cache hit: Update score with decay, +1 for new access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• </a:t>
            </a:r>
            <a:r>
              <a:rPr dirty="0"/>
              <a:t> On cache miss: Evict item with minimum score, insert new item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•</a:t>
            </a:r>
            <a:r>
              <a:rPr dirty="0"/>
              <a:t>  Decay rate γ controls recency vs frequency trade-off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γ → 1: More weight on frequency (LFU-like)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γ → 0: More weight on recency (LRU-like)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Complexity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• </a:t>
            </a:r>
            <a:r>
              <a:rPr lang="ro-RO" dirty="0"/>
              <a:t>Naive </a:t>
            </a:r>
            <a:r>
              <a:rPr lang="ro-RO" dirty="0" err="1"/>
              <a:t>implementation</a:t>
            </a:r>
            <a:r>
              <a:rPr lang="en-US" dirty="0"/>
              <a:t>:</a:t>
            </a:r>
            <a:endParaRPr lang="ro-RO" dirty="0"/>
          </a:p>
          <a:p>
            <a:pPr lvl="2"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en-US" sz="2000" dirty="0"/>
              <a:t>▪</a:t>
            </a:r>
            <a:r>
              <a:rPr dirty="0"/>
              <a:t>  Time: O(n) </a:t>
            </a:r>
            <a:r>
              <a:rPr lang="en-US" dirty="0"/>
              <a:t>per query</a:t>
            </a:r>
          </a:p>
          <a:p>
            <a:pPr lvl="2"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lang="en-US" sz="2000" dirty="0"/>
              <a:t>▪</a:t>
            </a:r>
            <a:r>
              <a:rPr dirty="0"/>
              <a:t>  Space: O(n) for scores and timestamps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</a:t>
            </a:r>
            <a:r>
              <a:rPr lang="en-US" dirty="0"/>
              <a:t>Time complexity can</a:t>
            </a:r>
            <a:r>
              <a:rPr dirty="0"/>
              <a:t> be optimized with min-heap to O(log 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23232"/>
                </a:solidFill>
              </a:defRPr>
            </a:pPr>
            <a:r>
              <a:rPr dirty="0"/>
              <a:t>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474720"/>
            <a:ext cx="18288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Compared against: LRU, LFU, ARC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Synthetic traces: Zipf distribution</a:t>
            </a:r>
            <a:endParaRPr lang="ro-RO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Non-stationary traces: Phase changes with varying hot sets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Real-world trace: NASA HTTP access</a:t>
            </a:r>
            <a:endParaRPr lang="ro-RO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Cache sizes: 1% to 16% of unique items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Evaluation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8288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6949440" cy="89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4682B4"/>
                </a:solidFill>
              </a:defRPr>
            </a:pPr>
            <a:endParaRPr lang="ro-RO" dirty="0"/>
          </a:p>
          <a:p>
            <a:pPr algn="ctr">
              <a:spcAft>
                <a:spcPts val="1000"/>
              </a:spcAft>
              <a:defRPr sz="2200" b="1">
                <a:solidFill>
                  <a:srgbClr val="4682B4"/>
                </a:solidFill>
              </a:defRPr>
            </a:pPr>
            <a:r>
              <a:rPr dirty="0"/>
              <a:t>Δ(j, c, TDC) = (HR_TDC - HR_j) / HR_TDC ×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dirty="0"/>
              <a:t>Delta measures relative improvement of TDC over baseline </a:t>
            </a:r>
            <a:r>
              <a:rPr i="1" dirty="0"/>
              <a:t>j</a:t>
            </a:r>
            <a:r>
              <a:rPr dirty="0"/>
              <a:t>. Positive values indicate TDC outperforms the baseline.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rPr dirty="0"/>
              <a:t>Results: Synthetic Traces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delta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3124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</a:defRPr>
            </a:pPr>
            <a:r>
              <a:rPr dirty="0"/>
              <a:t>Average Δ across all cache sizes - Positive values indicate TDC outperforms baseline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rPr dirty="0"/>
              <a:t>Results: Real-World Trace (NASA HTTP Log)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delta_table_real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3124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</a:defRPr>
            </a:pPr>
            <a:r>
              <a:rPr dirty="0"/>
              <a:t>Performance on real web server access patterns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rPr dirty="0"/>
              <a:t>Adaptability: Synthetic Non-Stationary Traces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sliding_window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2854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</a:defRPr>
            </a:pPr>
            <a:r>
              <a:rPr dirty="0"/>
              <a:t>Sliding window hit ratio over time - Shows adaptation to phase changes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rPr dirty="0"/>
              <a:t>Adaptability: Real-World 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sliding_window_real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521" y="1188720"/>
            <a:ext cx="6680957" cy="50010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</a:defRPr>
            </a:pPr>
            <a:r>
              <a:rPr dirty="0"/>
              <a:t>Sliding window hit ratio on NASA HTTP log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23232"/>
                </a:solidFill>
              </a:defRPr>
            </a:pPr>
            <a:r>
              <a:rPr dirty="0"/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474720"/>
            <a:ext cx="18288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TDC outperforms </a:t>
            </a:r>
            <a:r>
              <a:rPr lang="en-US" dirty="0"/>
              <a:t>LRU, LFU </a:t>
            </a:r>
            <a:r>
              <a:rPr dirty="0"/>
              <a:t>baselines on non-stationary workloads</a:t>
            </a:r>
            <a:r>
              <a:rPr lang="en-US" dirty="0"/>
              <a:t>; comparable performance to more complex ARC</a:t>
            </a:r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Competitive performance on stationary workloads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Single parameter (γ) controls recency-frequency trade-off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Simple implementation with interpretable behavior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/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Adaptive decay rate based on </a:t>
            </a:r>
            <a:r>
              <a:rPr lang="en-US" dirty="0"/>
              <a:t>automatic </a:t>
            </a:r>
            <a:r>
              <a:rPr dirty="0"/>
              <a:t>workload detection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Evaluation on larger-scale production traces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 Integration with hierarchical caching systems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23232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rPr dirty="0"/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27432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704</Words>
  <Application>Microsoft Office PowerPoint</Application>
  <PresentationFormat>On-screen Show (4:3)</PresentationFormat>
  <Paragraphs>89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Catalin Pangaleanu</cp:lastModifiedBy>
  <cp:revision>2</cp:revision>
  <dcterms:created xsi:type="dcterms:W3CDTF">2013-01-27T09:14:16Z</dcterms:created>
  <dcterms:modified xsi:type="dcterms:W3CDTF">2026-01-14T00:38:48Z</dcterms:modified>
  <cp:category/>
</cp:coreProperties>
</file>